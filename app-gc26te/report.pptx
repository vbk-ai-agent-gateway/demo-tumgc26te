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6400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微软雅黑"/>
              </a:rPr>
              <a:t>四川省市县医院资源数据分析报告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4348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C9D6E4"/>
                </a:solidFill>
                <a:latin typeface="微软雅黑"/>
              </a:rPr>
              <a:t>数据源：01.四川省、市、县医院信息20201203.xls · 215家医院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029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E8A33D"/>
                </a:solidFill>
                <a:latin typeface="微软雅黑"/>
              </a:rPr>
              <a:t>汇报单位：数据分析组 · 2020年数据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</a:rPr>
              <a:t>一、数据概况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4980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9D6E4"/>
                </a:solidFill>
                <a:latin typeface="微软雅黑"/>
              </a:rPr>
              <a:t>全样本215家医院核心指标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737360"/>
            <a:ext cx="2057400" cy="155448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2057400" cy="73152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2057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F3A5F"/>
                </a:solidFill>
                <a:latin typeface="微软雅黑"/>
              </a:rPr>
              <a:t>215家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83464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888888"/>
                </a:solidFill>
                <a:latin typeface="微软雅黑"/>
              </a:rPr>
              <a:t>样本医院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34640" y="1737360"/>
            <a:ext cx="2057400" cy="155448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834640" y="1737360"/>
            <a:ext cx="2057400" cy="73152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34640" y="2148840"/>
            <a:ext cx="2057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F3A5F"/>
                </a:solidFill>
                <a:latin typeface="微软雅黑"/>
              </a:rPr>
              <a:t>174,749张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283464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888888"/>
                </a:solidFill>
                <a:latin typeface="微软雅黑"/>
              </a:rPr>
              <a:t>编制床位总数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20640" y="1737360"/>
            <a:ext cx="2057400" cy="155448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120640" y="1737360"/>
            <a:ext cx="2057400" cy="73152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0" y="2148840"/>
            <a:ext cx="2057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F3A5F"/>
                </a:solidFill>
                <a:latin typeface="微软雅黑"/>
              </a:rPr>
              <a:t>813 / 600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283464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888888"/>
                </a:solidFill>
                <a:latin typeface="微软雅黑"/>
              </a:rPr>
              <a:t>平均/中位床位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06640" y="1737360"/>
            <a:ext cx="2057400" cy="155448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06640" y="1737360"/>
            <a:ext cx="2057400" cy="73152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06640" y="2148840"/>
            <a:ext cx="2057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F3A5F"/>
                </a:solidFill>
                <a:latin typeface="微软雅黑"/>
              </a:rPr>
              <a:t>50.7%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283464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888888"/>
                </a:solidFill>
                <a:latin typeface="微软雅黑"/>
              </a:rPr>
              <a:t>三级及以上占比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92640" y="1737360"/>
            <a:ext cx="2057400" cy="155448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692640" y="1737360"/>
            <a:ext cx="2057400" cy="73152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92640" y="2148840"/>
            <a:ext cx="2057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F3A5F"/>
                </a:solidFill>
                <a:latin typeface="微软雅黑"/>
              </a:rPr>
              <a:t>26.5%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0" y="283464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888888"/>
                </a:solidFill>
                <a:latin typeface="微软雅黑"/>
              </a:rPr>
              <a:t>三甲占比(57家)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3749039"/>
            <a:ext cx="10972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333333"/>
                </a:solidFill>
                <a:latin typeface="微软雅黑"/>
              </a:rPr>
              <a:t>●  三级及以上医院109家，占50.7%，床位占比约71.1%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333333"/>
                </a:solidFill>
                <a:latin typeface="微软雅黑"/>
              </a:rPr>
              <a:t>●  三甲57家占26.5%，床位83,582张，占比47.8%——头部集中显著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333333"/>
                </a:solidFill>
                <a:latin typeface="微软雅黑"/>
              </a:rPr>
              <a:t>●  平均813张高于中位600张，呈右偏分布，少数大院拉高均值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</a:rPr>
              <a:t>二、医院等级结构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4980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9D6E4"/>
                </a:solidFill>
                <a:latin typeface="微软雅黑"/>
              </a:rPr>
              <a:t>三甲以26.5%家数占47.8%床位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097280" y="1554480"/>
          <a:ext cx="1005840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2011680"/>
                <a:gridCol w="2194560"/>
                <a:gridCol w="219456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等级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家数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床位数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床位占比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微软雅黑"/>
                        </a:rPr>
                        <a:t>三甲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微软雅黑"/>
                        </a:rPr>
                        <a:t>57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微软雅黑"/>
                        </a:rPr>
                        <a:t>83,582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C0394F"/>
                          </a:solidFill>
                          <a:latin typeface="微软雅黑"/>
                        </a:rPr>
                        <a:t>47.8%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微软雅黑"/>
                        </a:rPr>
                        <a:t>二甲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微软雅黑"/>
                        </a:rPr>
                        <a:t>100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微软雅黑"/>
                        </a:rPr>
                        <a:t>48,917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C0394F"/>
                          </a:solidFill>
                          <a:latin typeface="微软雅黑"/>
                        </a:rPr>
                        <a:t>28.0%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微软雅黑"/>
                        </a:rPr>
                        <a:t>三乙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微软雅黑"/>
                        </a:rPr>
                        <a:t>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微软雅黑"/>
                        </a:rPr>
                        <a:t>39,681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C0394F"/>
                          </a:solidFill>
                          <a:latin typeface="微软雅黑"/>
                        </a:rPr>
                        <a:t>22.7%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微软雅黑"/>
                        </a:rPr>
                        <a:t>三级/二乙/二级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微软雅黑"/>
                        </a:rPr>
                        <a:t>8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微软雅黑"/>
                        </a:rPr>
                        <a:t>2,569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C0394F"/>
                          </a:solidFill>
                          <a:latin typeface="微软雅黑"/>
                        </a:rPr>
                        <a:t>1.5%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微软雅黑"/>
                        </a:rPr>
                        <a:t>合计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微软雅黑"/>
                        </a:rPr>
                        <a:t>215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微软雅黑"/>
                        </a:rPr>
                        <a:t>174,749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C0394F"/>
                          </a:solidFill>
                          <a:latin typeface="微软雅黑"/>
                        </a:rPr>
                        <a:t>100%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97280" y="4297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333333"/>
                </a:solidFill>
                <a:latin typeface="微软雅黑"/>
              </a:rPr>
              <a:t>●  三甲：家数占26.5%，床位占47.8%，头部集中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333333"/>
                </a:solidFill>
                <a:latin typeface="微软雅黑"/>
              </a:rPr>
              <a:t>●  二甲：家数最多(100家)，但床位占比仅28%，提升空间大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</a:rPr>
              <a:t>三、区域床位TOP10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4980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9D6E4"/>
                </a:solidFill>
                <a:latin typeface="微软雅黑"/>
              </a:rPr>
              <a:t>TOP10地区合计约79.2%，成都一城独大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1417320"/>
          <a:ext cx="1033272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097280"/>
                <a:gridCol w="1463040"/>
                <a:gridCol w="1143000"/>
                <a:gridCol w="1463040"/>
                <a:gridCol w="1097280"/>
                <a:gridCol w="1463040"/>
                <a:gridCol w="114300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地区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医院数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床位数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占比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地区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医院数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床位数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占比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微软雅黑"/>
                        </a:rPr>
                        <a:t>成都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微软雅黑"/>
                        </a:rPr>
                        <a:t>64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微软雅黑"/>
                        </a:rPr>
                        <a:t>53,703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微软雅黑"/>
                        </a:rPr>
                        <a:t>30.7%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微软雅黑"/>
                        </a:rPr>
                        <a:t>遂宁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微软雅黑"/>
                        </a:rPr>
                        <a:t>7,250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C0394F"/>
                          </a:solidFill>
                          <a:latin typeface="微软雅黑"/>
                        </a:rPr>
                        <a:t>4.1%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微软雅黑"/>
                        </a:rPr>
                        <a:t>南充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微软雅黑"/>
                        </a:rPr>
                        <a:t>13,750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微软雅黑"/>
                        </a:rPr>
                        <a:t>7.9%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微软雅黑"/>
                        </a:rPr>
                        <a:t>巴中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微软雅黑"/>
                        </a:rPr>
                        <a:t>6,540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C0394F"/>
                          </a:solidFill>
                          <a:latin typeface="微软雅黑"/>
                        </a:rPr>
                        <a:t>3.7%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微软雅黑"/>
                        </a:rPr>
                        <a:t>绵阳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微软雅黑"/>
                        </a:rPr>
                        <a:t>13,170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微软雅黑"/>
                        </a:rPr>
                        <a:t>7.5%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微软雅黑"/>
                        </a:rPr>
                        <a:t>达州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微软雅黑"/>
                        </a:rPr>
                        <a:t>6,249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C0394F"/>
                          </a:solidFill>
                          <a:latin typeface="微软雅黑"/>
                        </a:rPr>
                        <a:t>3.6%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微软雅黑"/>
                        </a:rPr>
                        <a:t>广元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微软雅黑"/>
                        </a:rPr>
                        <a:t>11,090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微软雅黑"/>
                        </a:rPr>
                        <a:t>6.3%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微软雅黑"/>
                        </a:rPr>
                        <a:t>德阳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微软雅黑"/>
                        </a:rPr>
                        <a:t>6,131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C0394F"/>
                          </a:solidFill>
                          <a:latin typeface="微软雅黑"/>
                        </a:rPr>
                        <a:t>3.5%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微软雅黑"/>
                        </a:rPr>
                        <a:t>泸州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微软雅黑"/>
                        </a:rPr>
                        <a:t>10,950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微软雅黑"/>
                        </a:rPr>
                        <a:t>6.3%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微软雅黑"/>
                        </a:rPr>
                        <a:t>宜宾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微软雅黑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微软雅黑"/>
                        </a:rPr>
                        <a:t>9,512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C0394F"/>
                          </a:solidFill>
                          <a:latin typeface="微软雅黑"/>
                        </a:rPr>
                        <a:t>5.4%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05840" y="420624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333333"/>
                </a:solidFill>
                <a:latin typeface="微软雅黑"/>
              </a:rPr>
              <a:t>●  成都64家、53,703床，占全省30.7%，一城独大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333333"/>
                </a:solidFill>
                <a:latin typeface="微软雅黑"/>
              </a:rPr>
              <a:t>●  南充、绵阳、泸州构成第二梯队区域医疗中心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</a:rPr>
              <a:t>四、头部医院（床位TOP10）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4980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9D6E4"/>
                </a:solidFill>
                <a:latin typeface="微软雅黑"/>
              </a:rPr>
              <a:t>全部为三甲，合计29,823张，占17.1%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417320"/>
          <a:ext cx="1051560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1691640"/>
                <a:gridCol w="3566160"/>
                <a:gridCol w="169164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医院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床位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医院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床位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微软雅黑"/>
                        </a:rPr>
                        <a:t>四川大学华西医院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微软雅黑"/>
                        </a:rPr>
                        <a:t>4,300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微软雅黑"/>
                        </a:rPr>
                        <a:t>四川省肿瘤医院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C0394F"/>
                          </a:solidFill>
                          <a:latin typeface="微软雅黑"/>
                        </a:rPr>
                        <a:t>2,300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微软雅黑"/>
                        </a:rPr>
                        <a:t>西南医科大学附属医院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微软雅黑"/>
                        </a:rPr>
                        <a:t>4,200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微软雅黑"/>
                        </a:rPr>
                        <a:t>德阳市人民医院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C0394F"/>
                          </a:solidFill>
                          <a:latin typeface="微软雅黑"/>
                        </a:rPr>
                        <a:t>2,100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微软雅黑"/>
                        </a:rPr>
                        <a:t>四川省人民医院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微软雅黑"/>
                        </a:rPr>
                        <a:t>4,123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微软雅黑"/>
                        </a:rPr>
                        <a:t>遂宁市中心医院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C0394F"/>
                          </a:solidFill>
                          <a:latin typeface="微软雅黑"/>
                        </a:rPr>
                        <a:t>2,000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微软雅黑"/>
                        </a:rPr>
                        <a:t>绵阳市中心医院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微软雅黑"/>
                        </a:rPr>
                        <a:t>3,000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微软雅黑"/>
                        </a:rPr>
                        <a:t>南充市中心医院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C0394F"/>
                          </a:solidFill>
                          <a:latin typeface="微软雅黑"/>
                        </a:rPr>
                        <a:t>2,000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微软雅黑"/>
                        </a:rPr>
                        <a:t>川北医学院附属医院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微软雅黑"/>
                        </a:rPr>
                        <a:t>2,800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  <a:latin typeface="微软雅黑"/>
                        </a:rPr>
                        <a:t>成都市第三人民医院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C0394F"/>
                          </a:solidFill>
                          <a:latin typeface="微软雅黑"/>
                        </a:rPr>
                        <a:t>2,500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14400" y="420624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333333"/>
                </a:solidFill>
                <a:latin typeface="微软雅黑"/>
              </a:rPr>
              <a:t>●  门诊量TOP10：绵阳中心200万人次居首，成都仅占3席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333333"/>
                </a:solidFill>
                <a:latin typeface="微软雅黑"/>
              </a:rPr>
              <a:t>●  华西180万、泸医165万、省人民150万紧随其后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</a:rPr>
              <a:t>五、主要结论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4980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9D6E4"/>
                </a:solidFill>
                <a:latin typeface="微软雅黑"/>
              </a:rPr>
              <a:t>五点核心发现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607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微软雅黑"/>
              </a:rPr>
              <a:t>●  头部集中：三甲57家占47.8%床位，TOP10医院占17.1%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微软雅黑"/>
              </a:rPr>
              <a:t>●  成都一城独大：64家、53,703床，占全省30.7%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微软雅黑"/>
              </a:rPr>
              <a:t>●  两极分化：平均813张 vs 中位600张，二甲家数多但床位占比低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微软雅黑"/>
              </a:rPr>
              <a:t>●  区域中心崛起：南充/绵阳/泸州中心医院突出，门诊TOP10成都仅3席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微软雅黑"/>
              </a:rPr>
              <a:t>●  川西薄弱：甘孜、阿坝、凉山资源密度明显偏低，是补短板重点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</a:rPr>
              <a:t>六、工作建议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4980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9D6E4"/>
                </a:solidFill>
                <a:latin typeface="微软雅黑"/>
              </a:rPr>
              <a:t>五项举措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607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微软雅黑"/>
              </a:rPr>
              <a:t>●  资源扩容向川西三州倾斜，补齐区域空白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微软雅黑"/>
              </a:rPr>
              <a:t>●  支持地市三甲创建，分担成都就诊压力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微软雅黑"/>
              </a:rPr>
              <a:t>●  以华西为领头羊建设分级诊疗与远程医疗网络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微软雅黑"/>
              </a:rPr>
              <a:t>●  100家二甲医院提质升级，推动能力提升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微软雅黑"/>
              </a:rPr>
              <a:t>●  按床位配置同步扩容门急诊与医技资源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0"/>
            <a:ext cx="12191695" cy="5486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>
                <a:solidFill>
                  <a:srgbClr val="FFFFFF"/>
                </a:solidFill>
                <a:latin typeface="微软雅黑"/>
              </a:rPr>
              <a:t>谢谢观看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2062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C9D6E4"/>
                </a:solidFill>
                <a:latin typeface="微软雅黑"/>
              </a:rPr>
              <a:t>数据源：01.四川省、市、县医院信息20201203.xls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